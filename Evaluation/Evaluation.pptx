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4442" autoAdjust="0"/>
  </p:normalViewPr>
  <p:slideViewPr>
    <p:cSldViewPr snapToGrid="0">
      <p:cViewPr varScale="1">
        <p:scale>
          <a:sx n="71" d="100"/>
          <a:sy n="71" d="100"/>
        </p:scale>
        <p:origin x="20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40DF7-317B-4B2F-BAA4-584D63EADA1F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1FEB0-8435-43C5-8828-8AA8C6F434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64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I will present the evaluation and experiment part of our Snake Q-learning project.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goal is to check whether the trained Q-learning agent performs better than simple random actions.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evaluation, I use three metrics: average score, average total reward, and average survival steps.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1FEB0-8435-43C5-8828-8AA8C6F4345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854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I compare the random baseline with the trained Q-learning agent.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random agent chooses actions uniformly from straight, turn left, and turn right.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we can see, the random baseline gets an average score of only 0.16, while Q-learning reaches 13.74.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reward and survival steps also improve a lot, which shows that the learned policy is much better than random behavior.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1FEB0-8435-43C5-8828-8AA8C6F4345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143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this slide shows the learning curve over 10,000 training episodes.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use a 100-episode moving average to smooth the results, because individual Snake episodes can be noisy.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final moving average score is about 12.31, which means the agent gradually learns a stable policy during training.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1FEB0-8435-43C5-8828-8AA8C6F4345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553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also compared sparse reward and shaped reward.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sparse reward gives plus 10 for food, minus 10 for death, and minus 0.1 for each step.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shaped reward adds a small bonus if the snake moves closer to food, and a penalty if it moves farther away.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shaped reward achieves a slightly higher final moving average score, 13.04 compared with 12.31.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1FEB0-8435-43C5-8828-8AA8C6F434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723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experiment compares different epsilon decay strategies.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 decay explores for longer, medium decay reduces exploration faster, and low exploration starts with epsilon only 0.3.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medium decay strategy gives the best final moving average score among these three settings.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suggests that enough early exploration is important, but exploration should also decrease at a reasonable speed.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1FEB0-8435-43C5-8828-8AA8C6F4345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683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conclude, the experiments show three main points.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Q-learning clearly outperforms random actions.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medium epsilon decay gives stable learning performance.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reward shaping can slightly improve the final result by giving the agent denser learning signals.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these results support that tabular Q-learning is effective for this simplified Snake environment.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1FEB0-8435-43C5-8828-8AA8C6F434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042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CC03F-3784-AAEC-A704-DADD42486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A2BBFC-AC93-3043-9F36-950D5A7A3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D8D15C-7071-91C6-5BE8-AA20FFF5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870D3-6A6C-4ECC-8A27-ADFC42302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2A9263-7F92-D9D1-0CD9-3A2AF0CC4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00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5901E-B726-4F95-D185-4E9DB9377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452A5-8A58-1EFD-D245-1554B4C4F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FD2E45-4F12-A78E-B66C-A0634E44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E197A-77C7-EFAA-2931-6B17A60E3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2DBC7C-D305-9FAB-4574-80DC4027D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6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C0854-7289-FBDA-4D66-D322F063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715B24-8C8C-6507-E695-E6D29F7DB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ACEE5D-213A-41CC-E938-1EE0D3FB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B45386-5CE7-27A4-BE6C-3027A41F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6A0A69-9B56-84E0-B1EE-43891933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35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F0F38-EFB3-76C4-6239-9EF08E65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916928-57CE-033E-3F33-81D71AA5A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B3EFC0-1049-36E1-AC39-750451941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9E31F3-0CFA-3512-F537-39279751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BABA0B-27B7-9845-6FC9-F3771B5CA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3E7E3C-03AD-DAF9-8277-9FA0FB37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BB839-FAC3-CC15-00DD-20E420F95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DB9465-2DF5-AED9-8BCC-CFD3D078F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F3B889-41B7-7438-4BEA-628F4CF34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6E173A-0216-8DDC-737B-3870BFB59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AC6FCC-B8B1-4976-563D-65D635FFF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ADB91A-AF09-57A7-A6DC-89DF3EF9A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349670-FC08-44A0-E854-01B270B38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BFDBEB-821C-0644-3850-B5A2744E8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310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1A3CB-3B45-6212-DD66-FE3B71F7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83D5C9-0B95-69E8-8314-83BDE141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D3EED9-8AEA-76CA-1033-CB2B481F7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D3D5F3-DCA7-4773-2A2D-811E210A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79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8E3488-A2A6-909B-A480-3C027570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B04846-0222-FB43-71A2-B95609E7A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B2081D-0835-349C-BF9C-8CB182FE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27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63900-BA9D-F667-70B6-7ED0768B4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A1F02F-DAD8-F1A6-E6E3-D0CDF5649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D03CF5-AD44-E3C6-1B7D-335C9B431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E82EDD-754B-C261-A84F-C405A38B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939F79-2E7A-6DF2-A15D-40937D97E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A5334C-B2D7-2BD8-B638-CA5F1DCC6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05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00B30A-286A-AE7E-C6C5-DC7FEEB7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051399-562B-BBF7-188A-C65C5FAA8C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10B15F-5003-0660-3904-50E72AEAB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0A797F-35E7-BD5C-3943-72DA143A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F9909C-AB10-C31F-BDE7-F9901C85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232CD0-4A32-4518-61EC-0C8180FA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637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964E0-2E48-9994-C7F4-B9C1F740B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D019E4-E0E9-F9C4-6C07-D26622603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19C6B9-BB84-CFB0-4207-AAF2F65AC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A746BE-D003-04EF-27B0-34EF036A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C8640-C3E0-DAB2-4D39-9D12529B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313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79BBC35-EFC9-E631-DA28-8917DB7DA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21A81C-F1C8-FD63-C7EC-0E7B17D49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F1771D-2641-4B05-A4B2-1ABA7E683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11FD5A-C501-AE76-6947-ECEC03F34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67C92-D9BB-0E9C-04EE-0E93D03D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01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FFD29E-79C9-4663-CF69-BC207F00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4262B8-A507-DD21-A446-6A6B0B7F6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2EF1CF-6A1E-DE13-A47B-D0C8D772D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76532-9AB2-4B5D-B2EE-87242A93C2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533119-505F-080D-735C-1E4358045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129C4F-45E5-ED8E-750A-EE6494CD5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DF398-9C0F-40CE-824C-6EAC15AC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837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203BA-46DC-5320-FD92-1A467B9C75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Evaluation and Experiments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170D1E-BE51-82A4-D579-109C47D576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Goal: evaluate whether Q-learning improves Snake performance</a:t>
            </a:r>
          </a:p>
          <a:p>
            <a:r>
              <a:rPr lang="en-US" altLang="zh-CN" dirty="0"/>
              <a:t>Metrics: average score, total reward, survival steps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739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708F0E-A241-A6A3-8512-594703D8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Random Baseline vs Q-learning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FB1E738-CC7C-CF29-F6DD-3F3647108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359" y="1690688"/>
            <a:ext cx="7832408" cy="43513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03F292A-A5C6-D5B0-C289-A5F451CAAD94}"/>
              </a:ext>
            </a:extLst>
          </p:cNvPr>
          <p:cNvSpPr txBox="1"/>
          <p:nvPr/>
        </p:nvSpPr>
        <p:spPr>
          <a:xfrm>
            <a:off x="951359" y="2136338"/>
            <a:ext cx="36760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Random baseline:</a:t>
            </a:r>
          </a:p>
          <a:p>
            <a:r>
              <a:rPr lang="zh-CN" altLang="en-US" sz="2400" dirty="0"/>
              <a:t>Avg score = 0.16</a:t>
            </a:r>
          </a:p>
          <a:p>
            <a:r>
              <a:rPr lang="zh-CN" altLang="en-US" sz="2400" dirty="0"/>
              <a:t>Avg reward = -9.22</a:t>
            </a:r>
          </a:p>
          <a:p>
            <a:r>
              <a:rPr lang="zh-CN" altLang="en-US" sz="2400" dirty="0"/>
              <a:t>Avg steps = 9.33</a:t>
            </a:r>
          </a:p>
          <a:p>
            <a:endParaRPr lang="zh-CN" altLang="en-US" sz="2400" dirty="0"/>
          </a:p>
          <a:p>
            <a:r>
              <a:rPr lang="zh-CN" altLang="en-US" sz="2400" dirty="0"/>
              <a:t>Q-learning:</a:t>
            </a:r>
          </a:p>
          <a:p>
            <a:r>
              <a:rPr lang="zh-CN" altLang="en-US" sz="2400" dirty="0"/>
              <a:t>Avg score = 13.74</a:t>
            </a:r>
          </a:p>
          <a:p>
            <a:r>
              <a:rPr lang="zh-CN" altLang="en-US" sz="2400" dirty="0"/>
              <a:t>Avg reward = 121.69</a:t>
            </a:r>
          </a:p>
          <a:p>
            <a:r>
              <a:rPr lang="zh-CN" altLang="en-US" sz="2400" dirty="0"/>
              <a:t>Avg steps = 69.78</a:t>
            </a:r>
          </a:p>
        </p:txBody>
      </p:sp>
    </p:spTree>
    <p:extLst>
      <p:ext uri="{BB962C8B-B14F-4D97-AF65-F5344CB8AC3E}">
        <p14:creationId xmlns:p14="http://schemas.microsoft.com/office/powerpoint/2010/main" val="1350426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547B7-ABB7-686A-7D46-701F1551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 Curve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48D3FF-96D1-0FCC-D746-E3192FD12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94" y="1481907"/>
            <a:ext cx="7009535" cy="389418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8E8B6B2-635A-58AA-C63A-1EF9D46ACD89}"/>
              </a:ext>
            </a:extLst>
          </p:cNvPr>
          <p:cNvSpPr txBox="1"/>
          <p:nvPr/>
        </p:nvSpPr>
        <p:spPr>
          <a:xfrm>
            <a:off x="7563729" y="2074351"/>
            <a:ext cx="40740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Trained for 10,000 episodes</a:t>
            </a:r>
          </a:p>
          <a:p>
            <a:r>
              <a:rPr lang="zh-CN" altLang="en-US" dirty="0"/>
              <a:t>100-episode moving average used to smooth noise</a:t>
            </a:r>
          </a:p>
          <a:p>
            <a:r>
              <a:rPr lang="zh-CN" altLang="en-US" dirty="0"/>
              <a:t>Final moving average score ≈ 12.31 </a:t>
            </a:r>
          </a:p>
        </p:txBody>
      </p:sp>
    </p:spTree>
    <p:extLst>
      <p:ext uri="{BB962C8B-B14F-4D97-AF65-F5344CB8AC3E}">
        <p14:creationId xmlns:p14="http://schemas.microsoft.com/office/powerpoint/2010/main" val="240919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03A1E-E3E9-EE13-63B7-C977792E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Sparse Reward vs Shaped Reward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885EC06-10B5-DF96-7A72-FE5AD7D1D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796" y="1690688"/>
            <a:ext cx="7111986" cy="395110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2FEF4EF-3599-DE5A-8F0C-6522E36509DE}"/>
              </a:ext>
            </a:extLst>
          </p:cNvPr>
          <p:cNvSpPr txBox="1"/>
          <p:nvPr/>
        </p:nvSpPr>
        <p:spPr>
          <a:xfrm>
            <a:off x="544944" y="2136338"/>
            <a:ext cx="417485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Sparse reward:</a:t>
            </a:r>
          </a:p>
          <a:p>
            <a:r>
              <a:rPr lang="zh-CN" altLang="en-US" sz="2000" dirty="0"/>
              <a:t>+10 food, -10 death, -0.1 step</a:t>
            </a:r>
          </a:p>
          <a:p>
            <a:endParaRPr lang="zh-CN" altLang="en-US" sz="2000" dirty="0"/>
          </a:p>
          <a:p>
            <a:r>
              <a:rPr lang="zh-CN" altLang="en-US" sz="2000" dirty="0"/>
              <a:t>Shaped reward:</a:t>
            </a:r>
          </a:p>
          <a:p>
            <a:r>
              <a:rPr lang="zh-CN" altLang="en-US" sz="2000" dirty="0"/>
              <a:t>Sparse reward plus distance-based bonus/penalty</a:t>
            </a:r>
          </a:p>
          <a:p>
            <a:endParaRPr lang="zh-CN" altLang="en-US" sz="2000" dirty="0"/>
          </a:p>
          <a:p>
            <a:r>
              <a:rPr lang="zh-CN" altLang="en-US" sz="2000" dirty="0"/>
              <a:t>Final moving avg score:</a:t>
            </a:r>
          </a:p>
          <a:p>
            <a:r>
              <a:rPr lang="zh-CN" altLang="en-US" sz="2000" dirty="0"/>
              <a:t>Sparse = 12.31</a:t>
            </a:r>
          </a:p>
          <a:p>
            <a:r>
              <a:rPr lang="zh-CN" altLang="en-US" sz="2000" dirty="0"/>
              <a:t>Shaped = 13.04</a:t>
            </a:r>
          </a:p>
        </p:txBody>
      </p:sp>
    </p:spTree>
    <p:extLst>
      <p:ext uri="{BB962C8B-B14F-4D97-AF65-F5344CB8AC3E}">
        <p14:creationId xmlns:p14="http://schemas.microsoft.com/office/powerpoint/2010/main" val="108590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D3475-C375-477D-C2BF-BEC59E6E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Exploration Strategy Comparison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2DFEF6B-3CF9-2437-16C6-F83B9592D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233" y="1690688"/>
            <a:ext cx="7832408" cy="43513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545A596-5896-41EC-A34A-0D78487C3DC3}"/>
              </a:ext>
            </a:extLst>
          </p:cNvPr>
          <p:cNvSpPr txBox="1"/>
          <p:nvPr/>
        </p:nvSpPr>
        <p:spPr>
          <a:xfrm>
            <a:off x="655782" y="2136338"/>
            <a:ext cx="286327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Compared:</a:t>
            </a:r>
          </a:p>
          <a:p>
            <a:r>
              <a:rPr lang="zh-CN" altLang="en-US" dirty="0"/>
              <a:t>slow decay: 1.0, 0.999</a:t>
            </a:r>
          </a:p>
          <a:p>
            <a:r>
              <a:rPr lang="zh-CN" altLang="en-US" dirty="0"/>
              <a:t>medium decay: 1.0, 0.995</a:t>
            </a:r>
          </a:p>
          <a:p>
            <a:r>
              <a:rPr lang="zh-CN" altLang="en-US" dirty="0"/>
              <a:t>low exploration: 0.3, 0.995</a:t>
            </a:r>
          </a:p>
          <a:p>
            <a:endParaRPr lang="zh-CN" altLang="en-US" dirty="0"/>
          </a:p>
          <a:p>
            <a:r>
              <a:rPr lang="zh-CN" altLang="en-US" dirty="0"/>
              <a:t>Final moving avg score:</a:t>
            </a:r>
          </a:p>
          <a:p>
            <a:r>
              <a:rPr lang="zh-CN" altLang="en-US" dirty="0"/>
              <a:t>slow = 12.16</a:t>
            </a:r>
          </a:p>
          <a:p>
            <a:r>
              <a:rPr lang="zh-CN" altLang="en-US" dirty="0"/>
              <a:t>medium = 12.31</a:t>
            </a:r>
          </a:p>
          <a:p>
            <a:r>
              <a:rPr lang="zh-CN" altLang="en-US" dirty="0"/>
              <a:t>low = 11.84</a:t>
            </a:r>
          </a:p>
        </p:txBody>
      </p:sp>
    </p:spTree>
    <p:extLst>
      <p:ext uri="{BB962C8B-B14F-4D97-AF65-F5344CB8AC3E}">
        <p14:creationId xmlns:p14="http://schemas.microsoft.com/office/powerpoint/2010/main" val="934174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B633A-B611-5372-8184-1BC2CB277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57852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F4E7B6-7359-B5B7-EE0B-CFE0888A2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863" y="2712316"/>
            <a:ext cx="9340273" cy="1961284"/>
          </a:xfrm>
        </p:spPr>
        <p:txBody>
          <a:bodyPr/>
          <a:lstStyle/>
          <a:p>
            <a:pPr algn="ctr"/>
            <a:r>
              <a:rPr lang="en-US" altLang="zh-CN" dirty="0"/>
              <a:t>Q-learning clearly outperforms random actions.</a:t>
            </a:r>
          </a:p>
          <a:p>
            <a:pPr algn="ctr"/>
            <a:r>
              <a:rPr lang="en-US" altLang="zh-CN" dirty="0"/>
              <a:t>Medium epsilon decay gives stable performance.</a:t>
            </a:r>
          </a:p>
          <a:p>
            <a:pPr algn="ctr"/>
            <a:r>
              <a:rPr lang="en-US" altLang="zh-CN" dirty="0"/>
              <a:t>Reward shaping slightly improves final learning performance.</a:t>
            </a:r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6687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618</Words>
  <Application>Microsoft Office PowerPoint</Application>
  <PresentationFormat>宽屏</PresentationFormat>
  <Paragraphs>53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Evaluation and Experiments</vt:lpstr>
      <vt:lpstr>Random Baseline vs Q-learning</vt:lpstr>
      <vt:lpstr>Learning Curve</vt:lpstr>
      <vt:lpstr>Sparse Reward vs Shaped Reward</vt:lpstr>
      <vt:lpstr>Exploration Strategy 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俊邑 何</dc:creator>
  <cp:lastModifiedBy>俊邑 何</cp:lastModifiedBy>
  <cp:revision>2</cp:revision>
  <dcterms:created xsi:type="dcterms:W3CDTF">2026-05-05T06:56:20Z</dcterms:created>
  <dcterms:modified xsi:type="dcterms:W3CDTF">2026-05-05T07:14:50Z</dcterms:modified>
</cp:coreProperties>
</file>